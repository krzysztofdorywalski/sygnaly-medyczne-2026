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  <p:sldId id="274" r:id="rId21"/>
    <p:sldId id="276" r:id="rId22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1038E-13D5-44E6-AAAE-9356A0B95DC0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1B528-426C-4257-BF7C-524FDBA7C1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8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252A-44F0-4FBB-94AD-9547C8FEFE88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4281-92E1-4377-8447-3967D46C60E3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BF06-A3DB-413F-A640-0D30466B0CDD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74E0-31AD-4853-9888-4320E35672F9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1862-EFBB-4AB5-A737-F833F9070B15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1CD9-6913-423C-998E-31457E1924C9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9044-B824-4868-8456-B40B9D6E7C57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8568-5A90-4A15-9230-419DAF00A0DF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5E037-F928-4B9E-8602-41F337134DF5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1FC2-12C0-406E-B961-6F562301F04E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297FA-E5E5-4EC3-8F3D-70196460CA7E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1897F-8F23-433E-A660-EFF8D3EDA506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pl/url?sa=i&amp;url=http://www.purand.pl/pur2/elementy.html&amp;psig=AOvVaw2vjfGABShAqE8rNQ92LCm3&amp;ust=1601737066584000&amp;source=images&amp;cd=vfe&amp;ved=0CAIQjRxqFwoTCNi3ot6VluwCFQAAAAAdAAAAABA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l-PL" sz="4000" b="1" dirty="0">
                <a:solidFill>
                  <a:schemeClr val="accent1">
                    <a:lumMod val="50000"/>
                  </a:schemeClr>
                </a:solidFill>
              </a:rPr>
              <a:t>Laboratorium sygnałów medycznych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4412704"/>
            <a:ext cx="6400800" cy="1752600"/>
          </a:xfrm>
        </p:spPr>
        <p:txBody>
          <a:bodyPr>
            <a:normAutofit/>
          </a:bodyPr>
          <a:lstStyle/>
          <a:p>
            <a:r>
              <a:rPr lang="pl-PL" sz="2800" dirty="0"/>
              <a:t>dr inż. Krzysztof Dorywalski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417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11560" y="2564904"/>
            <a:ext cx="8229600" cy="720080"/>
          </a:xfrm>
        </p:spPr>
        <p:txBody>
          <a:bodyPr/>
          <a:lstStyle/>
          <a:p>
            <a:pPr marL="0" indent="0" algn="ctr">
              <a:buNone/>
            </a:pPr>
            <a:r>
              <a:rPr lang="pl-PL" b="1" dirty="0">
                <a:solidFill>
                  <a:schemeClr val="accent1">
                    <a:lumMod val="50000"/>
                  </a:schemeClr>
                </a:solidFill>
              </a:rPr>
              <a:t>Sygnały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074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Pojęcie sygnału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</a:t>
            </a:r>
            <a:r>
              <a:rPr lang="pl-PL" sz="2400" dirty="0"/>
              <a:t> – proces zmian w czasie pewnej wielkości fizycznej lub stanu obiektu fizycznego</a:t>
            </a:r>
            <a:endParaRPr lang="en-US" sz="2400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3</a:t>
            </a:fld>
            <a:endParaRPr lang="pl-PL"/>
          </a:p>
        </p:txBody>
      </p:sp>
      <p:sp>
        <p:nvSpPr>
          <p:cNvPr id="7" name="Symbol zastępczy zawartości 2"/>
          <p:cNvSpPr txBox="1">
            <a:spLocks/>
          </p:cNvSpPr>
          <p:nvPr/>
        </p:nvSpPr>
        <p:spPr>
          <a:xfrm>
            <a:off x="467544" y="2492896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</a:t>
            </a:r>
            <a:r>
              <a:rPr lang="pl-PL" sz="2400" dirty="0"/>
              <a:t> – to abstrakcyjny, matematyczny model zmienności dowolnej mierzalnej wielkości w funkcji argumentu </a:t>
            </a:r>
            <a:r>
              <a:rPr lang="pl-PL" sz="2400" i="1" dirty="0"/>
              <a:t>t</a:t>
            </a:r>
            <a:r>
              <a:rPr lang="pl-PL" sz="2400" dirty="0"/>
              <a:t>, generowanej przez zjawiska fizyczne lub systemy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027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Klasyfikacja sygnałów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dirty="0"/>
              <a:t>ze względu na przewidywalność ewolucji w czasie sygnały dzielimy na </a:t>
            </a:r>
            <a:r>
              <a:rPr lang="pl-PL" sz="2400" b="1" dirty="0">
                <a:solidFill>
                  <a:srgbClr val="FF0000"/>
                </a:solidFill>
              </a:rPr>
              <a:t>deterministyczne </a:t>
            </a:r>
            <a:r>
              <a:rPr lang="pl-PL" sz="2400" dirty="0"/>
              <a:t>i </a:t>
            </a:r>
            <a:r>
              <a:rPr lang="pl-PL" sz="2400" b="1" dirty="0">
                <a:solidFill>
                  <a:srgbClr val="FF0000"/>
                </a:solidFill>
              </a:rPr>
              <a:t>stochastyczne (losowe)</a:t>
            </a:r>
            <a:endParaRPr lang="en-US" sz="2400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4</a:t>
            </a:fld>
            <a:endParaRPr lang="pl-PL"/>
          </a:p>
        </p:txBody>
      </p:sp>
      <p:sp>
        <p:nvSpPr>
          <p:cNvPr id="7" name="Symbol zastępczy zawartości 2"/>
          <p:cNvSpPr txBox="1">
            <a:spLocks/>
          </p:cNvSpPr>
          <p:nvPr/>
        </p:nvSpPr>
        <p:spPr>
          <a:xfrm>
            <a:off x="467544" y="2636912"/>
            <a:ext cx="8435280" cy="18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ze względu na dziedzinę określoności sygnały dzielimy na </a:t>
            </a:r>
            <a:r>
              <a:rPr lang="pl-PL" sz="2400" b="1" dirty="0">
                <a:solidFill>
                  <a:srgbClr val="FF0000"/>
                </a:solidFill>
              </a:rPr>
              <a:t>ciągłe w czasie</a:t>
            </a:r>
            <a:r>
              <a:rPr lang="pl-PL" sz="2400" dirty="0"/>
              <a:t> (określone na całej osi (-∞, ∞), dodatniej półosi [0, ∞) lub odcinka [</a:t>
            </a:r>
            <a:r>
              <a:rPr lang="pl-PL" sz="2400" i="1" dirty="0"/>
              <a:t>t</a:t>
            </a:r>
            <a:r>
              <a:rPr lang="pl-PL" sz="2400" i="1" baseline="-25000" dirty="0"/>
              <a:t>1</a:t>
            </a:r>
            <a:r>
              <a:rPr lang="pl-PL" sz="2400" dirty="0"/>
              <a:t>, </a:t>
            </a:r>
            <a:r>
              <a:rPr lang="pl-PL" sz="2400" i="1" dirty="0"/>
              <a:t>t</a:t>
            </a:r>
            <a:r>
              <a:rPr lang="pl-PL" sz="2400" i="1" baseline="-25000" dirty="0"/>
              <a:t>2</a:t>
            </a:r>
            <a:r>
              <a:rPr lang="pl-PL" sz="2400" dirty="0"/>
              <a:t>] osi czasu) oraz sygnały </a:t>
            </a:r>
            <a:r>
              <a:rPr lang="pl-PL" sz="2400" b="1" dirty="0">
                <a:solidFill>
                  <a:srgbClr val="FF0000"/>
                </a:solidFill>
              </a:rPr>
              <a:t>dyskretne w czasie</a:t>
            </a:r>
            <a:r>
              <a:rPr lang="pl-PL" sz="2400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najczęściej oddalone od siebie w jednakowo oddalonych od siebie chwilach </a:t>
            </a:r>
            <a:r>
              <a:rPr lang="pl-PL" sz="2400" i="1" dirty="0" err="1"/>
              <a:t>t</a:t>
            </a:r>
            <a:r>
              <a:rPr lang="pl-PL" sz="2400" i="1" baseline="-25000" dirty="0" err="1"/>
              <a:t>n</a:t>
            </a:r>
            <a:r>
              <a:rPr lang="pl-PL" sz="2400" dirty="0"/>
              <a:t> = </a:t>
            </a:r>
            <a:r>
              <a:rPr lang="pl-PL" sz="2400" i="1" dirty="0" err="1"/>
              <a:t>nT</a:t>
            </a:r>
            <a:r>
              <a:rPr lang="pl-PL" sz="2400" i="1" baseline="-25000" dirty="0" err="1"/>
              <a:t>S</a:t>
            </a:r>
            <a:r>
              <a:rPr lang="pl-PL" sz="2400" dirty="0"/>
              <a:t>, gdzie </a:t>
            </a:r>
            <a:r>
              <a:rPr lang="pl-PL" sz="2400" i="1" dirty="0"/>
              <a:t>T</a:t>
            </a:r>
            <a:r>
              <a:rPr lang="pl-PL" sz="2400" i="1" baseline="-25000" dirty="0"/>
              <a:t>S</a:t>
            </a:r>
            <a:r>
              <a:rPr lang="pl-PL" sz="2400" i="1" dirty="0"/>
              <a:t> jest okresem dyskretyzacji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74771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Klasyfikacja sygnałów – przykłady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5</a:t>
            </a:fld>
            <a:endParaRPr lang="pl-P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8745203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640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Klasyfikacja sygnałów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115212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dirty="0"/>
              <a:t>ze względu na czas trwania sygnały dzielimy na sygnały o </a:t>
            </a:r>
            <a:r>
              <a:rPr lang="pl-PL" sz="2400" b="1" dirty="0">
                <a:solidFill>
                  <a:srgbClr val="FF0000"/>
                </a:solidFill>
              </a:rPr>
              <a:t>nieskończonym czasie trwania</a:t>
            </a:r>
            <a:r>
              <a:rPr lang="pl-PL" sz="2400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i</a:t>
            </a:r>
            <a:r>
              <a:rPr lang="pl-PL" sz="2400" dirty="0">
                <a:solidFill>
                  <a:srgbClr val="FF0000"/>
                </a:solidFill>
              </a:rPr>
              <a:t> </a:t>
            </a:r>
            <a:r>
              <a:rPr lang="pl-PL" sz="2400" b="1" dirty="0">
                <a:solidFill>
                  <a:srgbClr val="FF0000"/>
                </a:solidFill>
              </a:rPr>
              <a:t>skończonym czasie trwania (impulsowe)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6</a:t>
            </a:fld>
            <a:endParaRPr lang="pl-P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88840"/>
            <a:ext cx="7704856" cy="437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74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Klasyfikacja sygnałów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556792"/>
            <a:ext cx="8435280" cy="115212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przyczynowe </a:t>
            </a:r>
            <a:r>
              <a:rPr lang="pl-PL" sz="2400" dirty="0"/>
              <a:t>– sygnały, które nie istnieją dla ujemnych wartości czasu, lub których wartość dla ujemnego czasu jest równa zeru</a:t>
            </a:r>
            <a:endParaRPr lang="en-US" sz="2400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7</a:t>
            </a:fld>
            <a:endParaRPr lang="pl-PL"/>
          </a:p>
        </p:txBody>
      </p:sp>
      <p:sp>
        <p:nvSpPr>
          <p:cNvPr id="8" name="Symbol zastępczy zawartości 2"/>
          <p:cNvSpPr txBox="1">
            <a:spLocks/>
          </p:cNvSpPr>
          <p:nvPr/>
        </p:nvSpPr>
        <p:spPr>
          <a:xfrm>
            <a:off x="467544" y="2924944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nieprzyczynowe </a:t>
            </a:r>
            <a:r>
              <a:rPr lang="pl-PL" sz="2400" dirty="0"/>
              <a:t>– sygnały, które istnieją dla ujemnych wartości argumentu (czas)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429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Klasyfikacja sygnałów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556792"/>
            <a:ext cx="8435280" cy="115212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energii </a:t>
            </a:r>
            <a:r>
              <a:rPr lang="pl-PL" sz="2400" dirty="0"/>
              <a:t>– sygnały o skończonej energii: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Sygnały o skończonym czasie trwania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Sygnały o nieskończonym czasie trwania, lecz tłumione</a:t>
            </a:r>
            <a:endParaRPr lang="en-US" sz="2000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8</a:t>
            </a:fld>
            <a:endParaRPr lang="pl-PL"/>
          </a:p>
        </p:txBody>
      </p:sp>
      <p:sp>
        <p:nvSpPr>
          <p:cNvPr id="8" name="Symbol zastępczy zawartości 2"/>
          <p:cNvSpPr txBox="1">
            <a:spLocks/>
          </p:cNvSpPr>
          <p:nvPr/>
        </p:nvSpPr>
        <p:spPr>
          <a:xfrm>
            <a:off x="467544" y="2924944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mocy </a:t>
            </a:r>
            <a:r>
              <a:rPr lang="pl-PL" sz="2400" dirty="0"/>
              <a:t>– sygnały o nieskończonej energii, lecz ograniczonej mocy</a:t>
            </a:r>
            <a:endParaRPr lang="en-US" sz="2400" dirty="0"/>
          </a:p>
        </p:txBody>
      </p:sp>
      <p:sp>
        <p:nvSpPr>
          <p:cNvPr id="9" name="Tytuł 1"/>
          <p:cNvSpPr txBox="1">
            <a:spLocks/>
          </p:cNvSpPr>
          <p:nvPr/>
        </p:nvSpPr>
        <p:spPr>
          <a:xfrm>
            <a:off x="494121" y="850702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/>
              <a:t>Ze względu na wartość energii i/lub mocy:</a:t>
            </a:r>
            <a:endParaRPr lang="en-US" sz="2400" b="1" dirty="0"/>
          </a:p>
        </p:txBody>
      </p:sp>
      <p:sp>
        <p:nvSpPr>
          <p:cNvPr id="10" name="Tytuł 1"/>
          <p:cNvSpPr txBox="1">
            <a:spLocks/>
          </p:cNvSpPr>
          <p:nvPr/>
        </p:nvSpPr>
        <p:spPr>
          <a:xfrm>
            <a:off x="494121" y="4077072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/>
              <a:t>Ze względu na okresowość</a:t>
            </a:r>
            <a:endParaRPr lang="en-US" sz="2400" b="1" dirty="0"/>
          </a:p>
        </p:txBody>
      </p:sp>
      <p:sp>
        <p:nvSpPr>
          <p:cNvPr id="11" name="Symbol zastępczy zawartości 2"/>
          <p:cNvSpPr txBox="1">
            <a:spLocks/>
          </p:cNvSpPr>
          <p:nvPr/>
        </p:nvSpPr>
        <p:spPr>
          <a:xfrm>
            <a:off x="494121" y="4581128"/>
            <a:ext cx="843528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okresowe</a:t>
            </a:r>
            <a:endParaRPr lang="en-US" sz="2000" dirty="0"/>
          </a:p>
        </p:txBody>
      </p:sp>
      <p:sp>
        <p:nvSpPr>
          <p:cNvPr id="12" name="Symbol zastępczy zawartości 2"/>
          <p:cNvSpPr txBox="1">
            <a:spLocks/>
          </p:cNvSpPr>
          <p:nvPr/>
        </p:nvSpPr>
        <p:spPr>
          <a:xfrm>
            <a:off x="529208" y="5013176"/>
            <a:ext cx="843528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Sygnały nieokresowe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201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10" grpId="0"/>
      <p:bldP spid="11" grpId="0" build="p"/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Sposoby opisu sygnałów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115212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Argument sygnału </a:t>
            </a:r>
            <a:r>
              <a:rPr lang="pl-PL" sz="2400" dirty="0"/>
              <a:t>– najczęściej oznaczany literą </a:t>
            </a:r>
            <a:r>
              <a:rPr lang="pl-PL" sz="2400" i="1" dirty="0"/>
              <a:t>t</a:t>
            </a:r>
            <a:r>
              <a:rPr lang="pl-PL" sz="2400" dirty="0"/>
              <a:t> i traktowany jako czas, który może być ograniczony jakimś przedziałem </a:t>
            </a:r>
            <a:br>
              <a:rPr lang="pl-PL" sz="2400" dirty="0"/>
            </a:br>
            <a:r>
              <a:rPr lang="pl-PL" sz="2400" b="1" i="1" dirty="0"/>
              <a:t>T = </a:t>
            </a:r>
            <a:r>
              <a:rPr lang="pl-PL" sz="2400" b="1" dirty="0"/>
              <a:t>[</a:t>
            </a:r>
            <a:r>
              <a:rPr lang="pl-PL" sz="2400" b="1" i="1" dirty="0"/>
              <a:t>t</a:t>
            </a:r>
            <a:r>
              <a:rPr lang="pl-PL" sz="2400" b="1" i="1" baseline="-25000" dirty="0"/>
              <a:t>1</a:t>
            </a:r>
            <a:r>
              <a:rPr lang="pl-PL" sz="2400" b="1" i="1" dirty="0"/>
              <a:t>, t</a:t>
            </a:r>
            <a:r>
              <a:rPr lang="pl-PL" sz="2400" b="1" i="1" baseline="-25000" dirty="0"/>
              <a:t>2</a:t>
            </a:r>
            <a:r>
              <a:rPr lang="pl-PL" sz="2400" b="1" dirty="0"/>
              <a:t>]</a:t>
            </a:r>
            <a:endParaRPr lang="en-US" sz="2400" b="1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9</a:t>
            </a:fld>
            <a:endParaRPr lang="pl-PL"/>
          </a:p>
        </p:txBody>
      </p:sp>
      <p:sp>
        <p:nvSpPr>
          <p:cNvPr id="8" name="Symbol zastępczy zawartości 2"/>
          <p:cNvSpPr txBox="1">
            <a:spLocks/>
          </p:cNvSpPr>
          <p:nvPr/>
        </p:nvSpPr>
        <p:spPr>
          <a:xfrm>
            <a:off x="467544" y="2492896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Wartość chwilowa </a:t>
            </a:r>
            <a:r>
              <a:rPr lang="pl-PL" sz="2400" dirty="0"/>
              <a:t>– mierzona w jednostkach właściwych dla danej wielkości, np. </a:t>
            </a:r>
            <a:r>
              <a:rPr lang="pl-PL" sz="2400" i="1" dirty="0"/>
              <a:t>u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i="1" baseline="-25000" dirty="0"/>
              <a:t>1</a:t>
            </a:r>
            <a:r>
              <a:rPr lang="pl-PL" sz="2400" dirty="0"/>
              <a:t>)</a:t>
            </a:r>
            <a:endParaRPr lang="en-US" sz="2400" dirty="0"/>
          </a:p>
        </p:txBody>
      </p:sp>
      <p:sp>
        <p:nvSpPr>
          <p:cNvPr id="9" name="Symbol zastępczy zawartości 2"/>
          <p:cNvSpPr txBox="1">
            <a:spLocks/>
          </p:cNvSpPr>
          <p:nvPr/>
        </p:nvSpPr>
        <p:spPr>
          <a:xfrm>
            <a:off x="467544" y="3501008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Funkcja przebiegu sygnału </a:t>
            </a:r>
            <a:r>
              <a:rPr lang="pl-PL" sz="2400" dirty="0"/>
              <a:t>– np. </a:t>
            </a:r>
            <a:r>
              <a:rPr lang="pl-PL" sz="2400" i="1" dirty="0"/>
              <a:t>u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dirty="0"/>
              <a:t>), </a:t>
            </a:r>
            <a:r>
              <a:rPr lang="pl-PL" sz="2400" i="1" dirty="0"/>
              <a:t>i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dirty="0"/>
              <a:t>), </a:t>
            </a:r>
            <a:r>
              <a:rPr lang="pl-PL" sz="2400" i="1" dirty="0"/>
              <a:t>f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dirty="0"/>
              <a:t>) opisująca przebieg sygnału</a:t>
            </a:r>
            <a:endParaRPr lang="en-US" sz="2400" dirty="0"/>
          </a:p>
        </p:txBody>
      </p:sp>
      <p:sp>
        <p:nvSpPr>
          <p:cNvPr id="10" name="Symbol zastępczy zawartości 2"/>
          <p:cNvSpPr txBox="1">
            <a:spLocks/>
          </p:cNvSpPr>
          <p:nvPr/>
        </p:nvSpPr>
        <p:spPr>
          <a:xfrm>
            <a:off x="467544" y="4437112"/>
            <a:ext cx="843528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Specyficzne aspekty sygnałów okresowych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Składowa harmoniczna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Amplituda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Okres, pulsacja, częstotliwość</a:t>
            </a:r>
          </a:p>
          <a:p>
            <a:pPr lvl="1" algn="just">
              <a:buFont typeface="Wingdings" pitchFamily="2" charset="2"/>
              <a:buChar char="§"/>
            </a:pPr>
            <a:r>
              <a:rPr lang="pl-PL" sz="2000" dirty="0"/>
              <a:t>faza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010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9" grpId="0" build="p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Parametry sygnałów analogowych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10</a:t>
            </a:fld>
            <a:endParaRPr lang="pl-P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4" y="836712"/>
            <a:ext cx="8764896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332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Parametry sygnałów analogowych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11</a:t>
            </a:fld>
            <a:endParaRPr lang="pl-PL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872616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346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Parametry sygnałów analogowych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Energia</a:t>
            </a:r>
            <a:endParaRPr lang="en-US" sz="2400" b="1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12</a:t>
            </a:fld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2411760" y="1642089"/>
                <a:ext cx="3887110" cy="889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pl-PL" sz="24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pl-PL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l-PL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pl-PL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642089"/>
                <a:ext cx="3887110" cy="889154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ymbol zastępczy zawartości 2"/>
          <p:cNvSpPr txBox="1">
            <a:spLocks/>
          </p:cNvSpPr>
          <p:nvPr/>
        </p:nvSpPr>
        <p:spPr>
          <a:xfrm>
            <a:off x="457200" y="2708920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Moc średnia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/>
              <p:cNvSpPr txBox="1"/>
              <p:nvPr/>
            </p:nvSpPr>
            <p:spPr>
              <a:xfrm>
                <a:off x="2413082" y="3259926"/>
                <a:ext cx="3887110" cy="920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pl-PL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sz="2400" b="0" i="1" smtClean="0">
                                  <a:latin typeface="Cambria Math"/>
                                </a:rPr>
                                <m:t>𝑇</m:t>
                              </m:r>
                              <m:r>
                                <a:rPr lang="pl-PL" sz="2400" b="0" i="1" smtClean="0"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b>
                        <m:sup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l-PL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pl-PL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82" y="3259926"/>
                <a:ext cx="3887110" cy="920637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ymbol zastępczy zawartości 2"/>
          <p:cNvSpPr txBox="1">
            <a:spLocks/>
          </p:cNvSpPr>
          <p:nvPr/>
        </p:nvSpPr>
        <p:spPr>
          <a:xfrm>
            <a:off x="467544" y="4437112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b="1" dirty="0">
                <a:solidFill>
                  <a:srgbClr val="FF0000"/>
                </a:solidFill>
              </a:rPr>
              <a:t>Moc średnia sygnału okresowego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/>
              <p:cNvSpPr txBox="1"/>
              <p:nvPr/>
            </p:nvSpPr>
            <p:spPr>
              <a:xfrm>
                <a:off x="2411760" y="5100651"/>
                <a:ext cx="3887110" cy="1000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pl-PL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l-PL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l-PL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l-PL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pl-PL" sz="24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l-PL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l-PL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pl-PL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pole tekstow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5100651"/>
                <a:ext cx="3887110" cy="100098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68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1" grpId="0" build="p"/>
      <p:bldP spid="12" grpId="0" animBg="1"/>
      <p:bldP spid="13" grpId="0" build="p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Parametry sygnałów analogowych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dirty="0"/>
              <a:t>Jeśli 0 &lt; </a:t>
            </a:r>
            <a:r>
              <a:rPr lang="pl-PL" sz="2400" i="1" dirty="0"/>
              <a:t>E</a:t>
            </a:r>
            <a:r>
              <a:rPr lang="pl-PL" sz="2400" i="1" baseline="-25000" dirty="0"/>
              <a:t>x</a:t>
            </a:r>
            <a:r>
              <a:rPr lang="pl-PL" sz="2400" i="1" dirty="0"/>
              <a:t> </a:t>
            </a:r>
            <a:r>
              <a:rPr lang="pl-PL" sz="2400" dirty="0"/>
              <a:t>&lt; ∞, to sygnał </a:t>
            </a:r>
            <a:r>
              <a:rPr lang="pl-PL" sz="2400" i="1" dirty="0"/>
              <a:t>x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dirty="0"/>
              <a:t>) jest </a:t>
            </a:r>
            <a:r>
              <a:rPr lang="pl-PL" sz="2400" dirty="0">
                <a:solidFill>
                  <a:srgbClr val="FF0000"/>
                </a:solidFill>
              </a:rPr>
              <a:t>sygnałem o ograniczonej energii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13</a:t>
            </a:fld>
            <a:endParaRPr lang="pl-PL"/>
          </a:p>
        </p:txBody>
      </p:sp>
      <p:sp>
        <p:nvSpPr>
          <p:cNvPr id="15" name="Symbol zastępczy zawartości 2"/>
          <p:cNvSpPr txBox="1">
            <a:spLocks/>
          </p:cNvSpPr>
          <p:nvPr/>
        </p:nvSpPr>
        <p:spPr>
          <a:xfrm>
            <a:off x="467544" y="2420888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Jeśli 0 &lt; </a:t>
            </a:r>
            <a:r>
              <a:rPr lang="pl-PL" sz="2400" i="1" dirty="0" err="1"/>
              <a:t>P</a:t>
            </a:r>
            <a:r>
              <a:rPr lang="pl-PL" sz="2400" i="1" baseline="-25000" dirty="0" err="1"/>
              <a:t>x</a:t>
            </a:r>
            <a:r>
              <a:rPr lang="pl-PL" sz="2400" i="1" dirty="0"/>
              <a:t> </a:t>
            </a:r>
            <a:r>
              <a:rPr lang="pl-PL" sz="2400" dirty="0"/>
              <a:t>&lt; ∞, to sygnał </a:t>
            </a:r>
            <a:r>
              <a:rPr lang="pl-PL" sz="2400" i="1" dirty="0"/>
              <a:t>x</a:t>
            </a:r>
            <a:r>
              <a:rPr lang="pl-PL" sz="2400" dirty="0"/>
              <a:t>(</a:t>
            </a:r>
            <a:r>
              <a:rPr lang="pl-PL" sz="2400" i="1" dirty="0"/>
              <a:t>t</a:t>
            </a:r>
            <a:r>
              <a:rPr lang="pl-PL" sz="2400" dirty="0"/>
              <a:t>) jest </a:t>
            </a:r>
            <a:r>
              <a:rPr lang="pl-PL" sz="2400" dirty="0">
                <a:solidFill>
                  <a:srgbClr val="FF0000"/>
                </a:solidFill>
              </a:rPr>
              <a:t>sygnałem o ograniczonej mocy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6" name="Symbol zastępczy zawartości 2"/>
          <p:cNvSpPr txBox="1">
            <a:spLocks/>
          </p:cNvSpPr>
          <p:nvPr/>
        </p:nvSpPr>
        <p:spPr>
          <a:xfrm>
            <a:off x="323528" y="3626977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b="1" dirty="0"/>
              <a:t>Wnioski?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934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build="p"/>
      <p:bldP spid="1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Parametry sygnałów analogowych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dirty="0"/>
              <a:t>Moc sygnałów o ograniczonej energii jest równa zeru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14</a:t>
            </a:fld>
            <a:endParaRPr lang="pl-PL"/>
          </a:p>
        </p:txBody>
      </p:sp>
      <p:sp>
        <p:nvSpPr>
          <p:cNvPr id="9" name="Symbol zastępczy zawartości 2"/>
          <p:cNvSpPr txBox="1">
            <a:spLocks/>
          </p:cNvSpPr>
          <p:nvPr/>
        </p:nvSpPr>
        <p:spPr>
          <a:xfrm>
            <a:off x="467544" y="1844824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Energia sygnałów o ograniczonej mocy jest nieograniczona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0" name="Symbol zastępczy zawartości 2"/>
          <p:cNvSpPr txBox="1">
            <a:spLocks/>
          </p:cNvSpPr>
          <p:nvPr/>
        </p:nvSpPr>
        <p:spPr>
          <a:xfrm>
            <a:off x="467544" y="2348880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Każdy sygnał impulsowy ograniczony w amplitudzie jest sygnałem o ograniczonej energii 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1" name="Symbol zastępczy zawartości 2"/>
          <p:cNvSpPr txBox="1">
            <a:spLocks/>
          </p:cNvSpPr>
          <p:nvPr/>
        </p:nvSpPr>
        <p:spPr>
          <a:xfrm>
            <a:off x="467544" y="3140968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Sygnały o nieskończonym czasie trwania mogą być o ograniczonej energii bądź o ograniczonej mocy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2" name="Symbol zastępczy zawartości 2"/>
          <p:cNvSpPr txBox="1">
            <a:spLocks/>
          </p:cNvSpPr>
          <p:nvPr/>
        </p:nvSpPr>
        <p:spPr>
          <a:xfrm>
            <a:off x="467544" y="4005064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Sygnały o ograniczonej mocy i ograniczone w amplitudzie są sygnałami o nieskończonym czasie trwania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26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uild="p"/>
      <p:bldP spid="10" grpId="0" build="p"/>
      <p:bldP spid="11" grpId="0" build="p"/>
      <p:bldP spid="1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przykłady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15</a:t>
            </a:fld>
            <a:endParaRPr lang="pl-PL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712968" cy="5790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6836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61"/>
          <a:stretch/>
        </p:blipFill>
        <p:spPr bwMode="auto">
          <a:xfrm>
            <a:off x="2051720" y="3573017"/>
            <a:ext cx="4010959" cy="2925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Wielkości charakteryzujące impulsy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16</a:t>
            </a:fld>
            <a:endParaRPr lang="pl-P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70"/>
          <a:stretch/>
        </p:blipFill>
        <p:spPr bwMode="auto">
          <a:xfrm>
            <a:off x="827584" y="548680"/>
            <a:ext cx="770528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163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przykłady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17</a:t>
            </a:fld>
            <a:endParaRPr lang="pl-P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"/>
          <a:stretch/>
        </p:blipFill>
        <p:spPr bwMode="auto">
          <a:xfrm>
            <a:off x="323527" y="1052736"/>
            <a:ext cx="8651649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644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przykłady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18</a:t>
            </a:fld>
            <a:endParaRPr lang="pl-P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90713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65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przykłady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Modele sygnałów i procesów ciągłych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19</a:t>
            </a:fld>
            <a:endParaRPr lang="pl-P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42619"/>
            <a:ext cx="8424936" cy="5538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013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delta </a:t>
            </a:r>
            <a:r>
              <a:rPr lang="pl-PL" sz="3200" b="1" dirty="0" err="1">
                <a:solidFill>
                  <a:schemeClr val="accent1">
                    <a:lumMod val="50000"/>
                  </a:schemeClr>
                </a:solidFill>
              </a:rPr>
              <a:t>Diraca</a:t>
            </a:r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20</a:t>
            </a:fld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/>
              <p:cNvSpPr txBox="1"/>
              <p:nvPr/>
            </p:nvSpPr>
            <p:spPr>
              <a:xfrm>
                <a:off x="1907704" y="1196752"/>
                <a:ext cx="3887110" cy="737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𝛿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0, </m:t>
                              </m:r>
                            </m:e>
                            <m:e>
                              <m:r>
                                <a:rPr lang="pl-PL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e>
                          </m:eqArr>
                          <m:r>
                            <a:rPr lang="pl-PL" sz="2400" b="0" i="1" smtClean="0">
                              <a:latin typeface="Cambria Math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pl-PL" sz="2400" b="0" i="1" smtClean="0"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pl-PL" sz="24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pl-PL" sz="2400" b="0" i="1" smtClean="0">
                                    <a:latin typeface="Cambria Math"/>
                                    <a:ea typeface="Cambria Math"/>
                                  </a:rPr>
                                  <m:t>≠0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latin typeface="Cambria Math"/>
                                  </a:rPr>
                                  <m:t>   </m:t>
                                </m:r>
                                <m:r>
                                  <a:rPr lang="pl-PL" sz="24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pl-PL" sz="2400" b="0" i="1" smtClean="0">
                                    <a:latin typeface="Cambria Math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196752"/>
                <a:ext cx="3887110" cy="73763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 descr="Elementy transformaty Laplace'a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08920"/>
            <a:ext cx="5112568" cy="313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14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Sygnały analogowe  - delta </a:t>
            </a:r>
            <a:r>
              <a:rPr lang="pl-PL" sz="3200" b="1" dirty="0" err="1">
                <a:solidFill>
                  <a:schemeClr val="accent1">
                    <a:lumMod val="50000"/>
                  </a:schemeClr>
                </a:solidFill>
              </a:rPr>
              <a:t>Diraca</a:t>
            </a:r>
            <a:r>
              <a:rPr lang="pl-PL" sz="3200" b="1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1BE4-FEFB-4B3B-99F4-E3C6B5BF8D10}" type="datetime1">
              <a:rPr lang="pl-PL" smtClean="0"/>
              <a:pPr/>
              <a:t>02.03.2026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Laboratorium Sygnałów Medycznych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pPr/>
              <a:t>21</a:t>
            </a:fld>
            <a:endParaRPr lang="pl-PL"/>
          </a:p>
        </p:txBody>
      </p:sp>
      <p:sp>
        <p:nvSpPr>
          <p:cNvPr id="8" name="Symbol zastępczy zawartości 2"/>
          <p:cNvSpPr>
            <a:spLocks noGrp="1"/>
          </p:cNvSpPr>
          <p:nvPr>
            <p:ph idx="1"/>
          </p:nvPr>
        </p:nvSpPr>
        <p:spPr>
          <a:xfrm>
            <a:off x="323528" y="764704"/>
            <a:ext cx="8435280" cy="115212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pl-PL" sz="2400" dirty="0"/>
              <a:t>związek delty </a:t>
            </a:r>
            <a:r>
              <a:rPr lang="pl-PL" sz="2400" dirty="0" err="1"/>
              <a:t>Diraca</a:t>
            </a:r>
            <a:r>
              <a:rPr lang="pl-PL" sz="2400" dirty="0"/>
              <a:t> ze skokiem jednostkowym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/>
              <p:cNvSpPr txBox="1"/>
              <p:nvPr/>
            </p:nvSpPr>
            <p:spPr>
              <a:xfrm>
                <a:off x="251520" y="1412776"/>
                <a:ext cx="3887110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𝛿</m:t>
                      </m:r>
                      <m:d>
                        <m:dPr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</m:num>
                        <m:den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𝑑𝑡</m:t>
                          </m:r>
                        </m:den>
                      </m:f>
                      <m:r>
                        <a:rPr lang="pl-PL" sz="24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12776"/>
                <a:ext cx="3887110" cy="815673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/>
              <p:cNvSpPr txBox="1"/>
              <p:nvPr/>
            </p:nvSpPr>
            <p:spPr>
              <a:xfrm>
                <a:off x="3923928" y="1452207"/>
                <a:ext cx="388711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smtClean="0">
                          <a:latin typeface="Cambria Math"/>
                          <a:ea typeface="Cambria Math"/>
                        </a:rPr>
                        <m:t>𝟏</m:t>
                      </m:r>
                      <m:d>
                        <m:dPr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pl-PL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1452207"/>
                <a:ext cx="3887110" cy="106106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ymbol zastępczy zawartości 2"/>
          <p:cNvSpPr txBox="1">
            <a:spLocks/>
          </p:cNvSpPr>
          <p:nvPr/>
        </p:nvSpPr>
        <p:spPr>
          <a:xfrm>
            <a:off x="385192" y="2780928"/>
            <a:ext cx="84352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§"/>
            </a:pPr>
            <a:r>
              <a:rPr lang="pl-PL" sz="2400" dirty="0"/>
              <a:t>właściwość filtracji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/>
              <p:cNvSpPr txBox="1"/>
              <p:nvPr/>
            </p:nvSpPr>
            <p:spPr>
              <a:xfrm>
                <a:off x="2411760" y="3573016"/>
                <a:ext cx="3887110" cy="889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pl-PL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nary>
                      <m:d>
                        <m:dPr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𝛿</m:t>
                      </m:r>
                      <m:d>
                        <m:dPr>
                          <m:ctrlPr>
                            <a:rPr lang="pl-PL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𝑑𝑡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𝑓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pl-PL" sz="2400" b="0" i="1" smtClean="0">
                          <a:latin typeface="Cambria Math"/>
                          <a:ea typeface="Cambria Math"/>
                        </a:rPr>
                        <m:t>=0)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573016"/>
                <a:ext cx="3887110" cy="8891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13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617</Words>
  <Application>Microsoft Office PowerPoint</Application>
  <PresentationFormat>Pokaz na ekranie (4:3)</PresentationFormat>
  <Paragraphs>125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Wingdings</vt:lpstr>
      <vt:lpstr>Motyw pakietu Office</vt:lpstr>
      <vt:lpstr>Laboratorium sygnałów medycznych</vt:lpstr>
      <vt:lpstr>Prezentacja programu PowerPoint</vt:lpstr>
      <vt:lpstr>Pojęcie sygnału</vt:lpstr>
      <vt:lpstr>Klasyfikacja sygnałów</vt:lpstr>
      <vt:lpstr>Klasyfikacja sygnałów – przykłady </vt:lpstr>
      <vt:lpstr>Klasyfikacja sygnałów</vt:lpstr>
      <vt:lpstr>Klasyfikacja sygnałów</vt:lpstr>
      <vt:lpstr>Klasyfikacja sygnałów</vt:lpstr>
      <vt:lpstr>Sposoby opisu sygnałów</vt:lpstr>
      <vt:lpstr>Parametry sygnałów analogowych</vt:lpstr>
      <vt:lpstr>Parametry sygnałów analogowych</vt:lpstr>
      <vt:lpstr>Parametry sygnałów analogowych</vt:lpstr>
      <vt:lpstr>Parametry sygnałów analogowych</vt:lpstr>
      <vt:lpstr>Parametry sygnałów analogowych</vt:lpstr>
      <vt:lpstr>Sygnały analogowe  - przykłady  </vt:lpstr>
      <vt:lpstr>Wielkości charakteryzujące impulsy</vt:lpstr>
      <vt:lpstr>Sygnały analogowe  - przykłady  </vt:lpstr>
      <vt:lpstr>Sygnały analogowe  - przykłady  </vt:lpstr>
      <vt:lpstr>Sygnały analogowe  - przykłady  </vt:lpstr>
      <vt:lpstr>Sygnały analogowe  - delta Diraca  </vt:lpstr>
      <vt:lpstr>Sygnały analogowe  - delta Diraca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Modele sygnałów i procesów ciągłych</dc:title>
  <dc:creator>Krzysztof</dc:creator>
  <cp:lastModifiedBy>Krzysztof Dorywalski</cp:lastModifiedBy>
  <cp:revision>38</cp:revision>
  <dcterms:created xsi:type="dcterms:W3CDTF">2020-10-02T08:01:42Z</dcterms:created>
  <dcterms:modified xsi:type="dcterms:W3CDTF">2026-03-02T10:38:14Z</dcterms:modified>
</cp:coreProperties>
</file>